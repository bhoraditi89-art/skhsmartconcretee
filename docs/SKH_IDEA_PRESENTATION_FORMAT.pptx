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Garamond Bold" panose="02020804030307010803" pitchFamily="18" charset="0"/>
      <p:regular r:id="rId9"/>
      <p:bold r:id="rId10"/>
    </p:embeddedFont>
    <p:embeddedFont>
      <p:font typeface="Arial" panose="020B0604020202020204" pitchFamily="34" charset="0"/>
      <p:regular r:id="rId11"/>
    </p:embeddedFont>
    <p:embeddedFont>
      <p:font typeface="Arial Bold" panose="020B0704020202020204" pitchFamily="34" charset="0"/>
      <p:regular r:id="rId12"/>
      <p:bold r:id="rId13"/>
    </p:embeddedFont>
    <p:embeddedFont>
      <p:font typeface="Times New Roman Bold" panose="02020803070505020304" pitchFamily="18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Arimo Bold" panose="020B0604020202020204" charset="0"/>
      <p:regular r:id="rId20"/>
    </p:embeddedFont>
    <p:embeddedFont>
      <p:font typeface="Calibri (MS)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1" d="100"/>
          <a:sy n="61" d="100"/>
        </p:scale>
        <p:origin x="326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B7C4FA-2DA6-4D8F-9E12-91A914FCFA1D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675988-8119-4788-A853-4D2B3C9A752B}">
      <dgm:prSet phldrT="[Text]"/>
      <dgm:spPr/>
      <dgm:t>
        <a:bodyPr/>
        <a:lstStyle/>
        <a:p>
          <a:r>
            <a:rPr lang="en-US" dirty="0" smtClean="0"/>
            <a:t>The nervous system</a:t>
          </a:r>
          <a:endParaRPr lang="en-US" dirty="0"/>
        </a:p>
      </dgm:t>
    </dgm:pt>
    <dgm:pt modelId="{0D5AD285-D1BB-4B62-904D-F31AAD6ACF38}" type="parTrans" cxnId="{40D045B1-EE8B-49F1-9016-6705964DC5A6}">
      <dgm:prSet/>
      <dgm:spPr/>
      <dgm:t>
        <a:bodyPr/>
        <a:lstStyle/>
        <a:p>
          <a:endParaRPr lang="en-US"/>
        </a:p>
      </dgm:t>
    </dgm:pt>
    <dgm:pt modelId="{F748115D-6949-4C96-8435-A51967ED59BB}" type="sibTrans" cxnId="{40D045B1-EE8B-49F1-9016-6705964DC5A6}">
      <dgm:prSet/>
      <dgm:spPr/>
      <dgm:t>
        <a:bodyPr/>
        <a:lstStyle/>
        <a:p>
          <a:endParaRPr lang="en-US"/>
        </a:p>
      </dgm:t>
    </dgm:pt>
    <dgm:pt modelId="{39795CB9-6565-417F-ACDD-01FE465B85D6}">
      <dgm:prSet phldrT="[Text]" custT="1"/>
      <dgm:spPr>
        <a:solidFill>
          <a:schemeClr val="accent1">
            <a:lumMod val="40000"/>
            <a:lumOff val="60000"/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endParaRPr lang="en-US" sz="1600" b="1" dirty="0"/>
        </a:p>
      </dgm:t>
    </dgm:pt>
    <dgm:pt modelId="{6BE95406-26F5-4E20-B485-15735E6175B1}" type="sibTrans" cxnId="{55F8F478-7B4B-42CC-AFDD-F4026D004CEA}">
      <dgm:prSet/>
      <dgm:spPr/>
      <dgm:t>
        <a:bodyPr/>
        <a:lstStyle/>
        <a:p>
          <a:endParaRPr lang="en-US"/>
        </a:p>
      </dgm:t>
    </dgm:pt>
    <dgm:pt modelId="{3CD71D58-B3C5-42C7-AD70-DA44FA256EA8}" type="parTrans" cxnId="{55F8F478-7B4B-42CC-AFDD-F4026D004CEA}">
      <dgm:prSet/>
      <dgm:spPr/>
      <dgm:t>
        <a:bodyPr/>
        <a:lstStyle/>
        <a:p>
          <a:endParaRPr lang="en-US"/>
        </a:p>
      </dgm:t>
    </dgm:pt>
    <dgm:pt modelId="{973CA0AB-ACC9-460F-BC70-4048A0C469AB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 sz="1600" b="1" dirty="0"/>
        </a:p>
      </dgm:t>
    </dgm:pt>
    <dgm:pt modelId="{DC051267-E4B5-448F-9872-6C75C0165280}" type="sibTrans" cxnId="{5509881B-4710-4A67-BF83-5D392F802223}">
      <dgm:prSet/>
      <dgm:spPr/>
      <dgm:t>
        <a:bodyPr/>
        <a:lstStyle/>
        <a:p>
          <a:endParaRPr lang="en-US"/>
        </a:p>
      </dgm:t>
    </dgm:pt>
    <dgm:pt modelId="{26E0111F-7B16-4786-827D-039C52507496}" type="parTrans" cxnId="{5509881B-4710-4A67-BF83-5D392F802223}">
      <dgm:prSet/>
      <dgm:spPr/>
      <dgm:t>
        <a:bodyPr/>
        <a:lstStyle/>
        <a:p>
          <a:endParaRPr lang="en-US"/>
        </a:p>
      </dgm:t>
    </dgm:pt>
    <dgm:pt modelId="{C8F56CB4-F924-476D-98CA-4377A036EB97}">
      <dgm:prSet phldrT="[Text]"/>
      <dgm:spPr/>
      <dgm:t>
        <a:bodyPr/>
        <a:lstStyle/>
        <a:p>
          <a:r>
            <a:rPr lang="en-US" dirty="0" smtClean="0"/>
            <a:t>The immune system</a:t>
          </a:r>
          <a:endParaRPr lang="en-US" dirty="0"/>
        </a:p>
      </dgm:t>
    </dgm:pt>
    <dgm:pt modelId="{FFC11955-D56A-4F0E-AFF9-EF5B9A93A802}" type="sibTrans" cxnId="{8D2CFB69-BDFA-406E-8E7E-54D35F0DBEB2}">
      <dgm:prSet/>
      <dgm:spPr/>
      <dgm:t>
        <a:bodyPr/>
        <a:lstStyle/>
        <a:p>
          <a:endParaRPr lang="en-US"/>
        </a:p>
      </dgm:t>
    </dgm:pt>
    <dgm:pt modelId="{892515C2-0625-4968-B6B4-479EF0891EE4}" type="parTrans" cxnId="{8D2CFB69-BDFA-406E-8E7E-54D35F0DBEB2}">
      <dgm:prSet/>
      <dgm:spPr/>
      <dgm:t>
        <a:bodyPr/>
        <a:lstStyle/>
        <a:p>
          <a:endParaRPr lang="en-US"/>
        </a:p>
      </dgm:t>
    </dgm:pt>
    <dgm:pt modelId="{CE4D9EC2-EFC2-4DBF-BC92-6CEE4A544744}">
      <dgm:prSet custT="1"/>
      <dgm:spPr>
        <a:solidFill>
          <a:schemeClr val="accent1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/>
            <a:t>Continuous non-destructive and automatic detection of damage</a:t>
          </a:r>
          <a:endParaRPr lang="en-US" sz="1600" b="1" dirty="0"/>
        </a:p>
      </dgm:t>
    </dgm:pt>
    <dgm:pt modelId="{A1ABCA2D-A004-4FC3-9210-8FC67A415568}" type="parTrans" cxnId="{FB54F0C2-2DF8-49B4-AD8B-5EC8CAC6491E}">
      <dgm:prSet/>
      <dgm:spPr/>
      <dgm:t>
        <a:bodyPr/>
        <a:lstStyle/>
        <a:p>
          <a:endParaRPr lang="en-US"/>
        </a:p>
      </dgm:t>
    </dgm:pt>
    <dgm:pt modelId="{7A1E049B-6FC2-499A-918E-1F2448068E11}" type="sibTrans" cxnId="{FB54F0C2-2DF8-49B4-AD8B-5EC8CAC6491E}">
      <dgm:prSet/>
      <dgm:spPr/>
      <dgm:t>
        <a:bodyPr/>
        <a:lstStyle/>
        <a:p>
          <a:endParaRPr lang="en-US"/>
        </a:p>
      </dgm:t>
    </dgm:pt>
    <dgm:pt modelId="{E182CE1B-8716-41C2-90D6-2B62CB426FCC}">
      <dgm:prSet custT="1"/>
      <dgm:spPr>
        <a:solidFill>
          <a:schemeClr val="accent1">
            <a:lumMod val="40000"/>
            <a:lumOff val="60000"/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1600" b="1" dirty="0" smtClean="0"/>
            <a:t>Concrete embeds healing agents like micro-encapsulated bacteria (such as bacillus subtilis) or chemical agents within vascular networks or as capsules.</a:t>
          </a:r>
          <a:endParaRPr lang="en-US" sz="1600" b="1" dirty="0"/>
        </a:p>
      </dgm:t>
    </dgm:pt>
    <dgm:pt modelId="{2E2A0BCC-0C69-4F19-8FD5-F4159EFE0EBD}" type="parTrans" cxnId="{E393C397-9AC8-4D73-84E8-B11C51CE4581}">
      <dgm:prSet/>
      <dgm:spPr/>
      <dgm:t>
        <a:bodyPr/>
        <a:lstStyle/>
        <a:p>
          <a:endParaRPr lang="en-US"/>
        </a:p>
      </dgm:t>
    </dgm:pt>
    <dgm:pt modelId="{283F41AC-B731-4ACB-8B86-2D08EFBF77D2}" type="sibTrans" cxnId="{E393C397-9AC8-4D73-84E8-B11C51CE4581}">
      <dgm:prSet/>
      <dgm:spPr/>
      <dgm:t>
        <a:bodyPr/>
        <a:lstStyle/>
        <a:p>
          <a:endParaRPr lang="en-US"/>
        </a:p>
      </dgm:t>
    </dgm:pt>
    <dgm:pt modelId="{E2B0F849-2125-4EFF-9DEB-D26114FEA364}">
      <dgm:prSet custT="1"/>
      <dgm:spPr>
        <a:solidFill>
          <a:schemeClr val="accent1">
            <a:lumMod val="40000"/>
            <a:lumOff val="60000"/>
            <a:alpha val="90000"/>
          </a:schemeClr>
        </a:solidFill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1600" b="1" dirty="0" smtClean="0"/>
            <a:t>Bacteria sequester CO2 minimizing the need of replacement materials. </a:t>
          </a:r>
          <a:endParaRPr lang="en-US" sz="1600" b="1" dirty="0"/>
        </a:p>
      </dgm:t>
    </dgm:pt>
    <dgm:pt modelId="{C4A93058-60F1-451C-B1F2-F74DB1B6FDAA}" type="parTrans" cxnId="{C362FB5A-3892-4085-AAB4-67927DBD614E}">
      <dgm:prSet/>
      <dgm:spPr/>
      <dgm:t>
        <a:bodyPr/>
        <a:lstStyle/>
        <a:p>
          <a:endParaRPr lang="en-US"/>
        </a:p>
      </dgm:t>
    </dgm:pt>
    <dgm:pt modelId="{A2233141-13EB-4A34-91C7-6A321A7461B5}" type="sibTrans" cxnId="{C362FB5A-3892-4085-AAB4-67927DBD614E}">
      <dgm:prSet/>
      <dgm:spPr/>
      <dgm:t>
        <a:bodyPr/>
        <a:lstStyle/>
        <a:p>
          <a:endParaRPr lang="en-US"/>
        </a:p>
      </dgm:t>
    </dgm:pt>
    <dgm:pt modelId="{B79BFC61-7B06-4EE1-85FB-B3AB1B5C60D2}">
      <dgm:prSet custT="1"/>
      <dgm:spPr>
        <a:solidFill>
          <a:schemeClr val="accent1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/>
            <a:t>Embedded fiber-optic sensors detect internal cracks and stress. An ESP32 chip sends real-time data and alerts to a dashboard.</a:t>
          </a:r>
        </a:p>
      </dgm:t>
    </dgm:pt>
    <dgm:pt modelId="{790AE3F6-0DBC-4C26-BB41-341B69CD42E6}" type="parTrans" cxnId="{F3E3F5E0-9ED7-4146-90EF-EE469087C1A6}">
      <dgm:prSet/>
      <dgm:spPr/>
      <dgm:t>
        <a:bodyPr/>
        <a:lstStyle/>
        <a:p>
          <a:endParaRPr lang="en-US"/>
        </a:p>
      </dgm:t>
    </dgm:pt>
    <dgm:pt modelId="{D5996FF8-00E8-40AA-8C28-BE0BB1DF5C3A}" type="sibTrans" cxnId="{F3E3F5E0-9ED7-4146-90EF-EE469087C1A6}">
      <dgm:prSet/>
      <dgm:spPr/>
      <dgm:t>
        <a:bodyPr/>
        <a:lstStyle/>
        <a:p>
          <a:endParaRPr lang="en-US"/>
        </a:p>
      </dgm:t>
    </dgm:pt>
    <dgm:pt modelId="{4E2BC67C-F4FE-486C-AB1A-E514CA48A4F7}" type="pres">
      <dgm:prSet presAssocID="{43B7C4FA-2DA6-4D8F-9E12-91A914FCFA1D}" presName="Name0" presStyleCnt="0">
        <dgm:presLayoutVars>
          <dgm:dir/>
          <dgm:animLvl val="lvl"/>
          <dgm:resizeHandles/>
        </dgm:presLayoutVars>
      </dgm:prSet>
      <dgm:spPr/>
    </dgm:pt>
    <dgm:pt modelId="{D32881DA-5C67-4F4F-8EB3-BD2C283AB8AD}" type="pres">
      <dgm:prSet presAssocID="{EC675988-8119-4788-A853-4D2B3C9A752B}" presName="linNode" presStyleCnt="0"/>
      <dgm:spPr/>
    </dgm:pt>
    <dgm:pt modelId="{1C022E61-4D89-4073-98DC-343A14A40F86}" type="pres">
      <dgm:prSet presAssocID="{EC675988-8119-4788-A853-4D2B3C9A752B}" presName="parentShp" presStyleLbl="node1" presStyleIdx="0" presStyleCnt="2" custScaleX="46356" custScaleY="86451" custLinFactNeighborX="-7017" custLinFactNeighborY="-8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E910F4-6631-4755-A918-3AFE60ECB317}" type="pres">
      <dgm:prSet presAssocID="{EC675988-8119-4788-A853-4D2B3C9A752B}" presName="childShp" presStyleLbl="bgAccFollowNode1" presStyleIdx="0" presStyleCnt="2" custScaleX="89082" custScaleY="99468" custLinFactNeighborX="2660" custLinFactNeighborY="-5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08B6D-9342-4CBD-91A3-D7F9C051C4EC}" type="pres">
      <dgm:prSet presAssocID="{F748115D-6949-4C96-8435-A51967ED59BB}" presName="spacing" presStyleCnt="0"/>
      <dgm:spPr/>
    </dgm:pt>
    <dgm:pt modelId="{200AC3BA-A1DE-4079-8CE8-5DC1794F15AF}" type="pres">
      <dgm:prSet presAssocID="{C8F56CB4-F924-476D-98CA-4377A036EB97}" presName="linNode" presStyleCnt="0"/>
      <dgm:spPr/>
    </dgm:pt>
    <dgm:pt modelId="{FB7B6912-1B5A-4BD4-97CC-3274969293E2}" type="pres">
      <dgm:prSet presAssocID="{C8F56CB4-F924-476D-98CA-4377A036EB97}" presName="parentShp" presStyleLbl="node1" presStyleIdx="1" presStyleCnt="2" custFlipHor="1" custScaleX="47655" custScaleY="97272" custLinFactNeighborX="-4148" custLinFactNeighborY="10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FE839D-53C1-4A7E-917A-D4A929B88757}" type="pres">
      <dgm:prSet presAssocID="{C8F56CB4-F924-476D-98CA-4377A036EB97}" presName="childShp" presStyleLbl="bgAccFollowNode1" presStyleIdx="1" presStyleCnt="2" custScaleX="91030" custScaleY="108242" custLinFactNeighborX="3431" custLinFactNeighborY="-30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19BD25-5737-405D-AF11-47BE4F658D2C}" type="presOf" srcId="{B79BFC61-7B06-4EE1-85FB-B3AB1B5C60D2}" destId="{31E910F4-6631-4755-A918-3AFE60ECB317}" srcOrd="0" destOrd="2" presId="urn:microsoft.com/office/officeart/2005/8/layout/vList6"/>
    <dgm:cxn modelId="{D72FC09D-2A8E-4110-B479-238475AD433F}" type="presOf" srcId="{EC675988-8119-4788-A853-4D2B3C9A752B}" destId="{1C022E61-4D89-4073-98DC-343A14A40F86}" srcOrd="0" destOrd="0" presId="urn:microsoft.com/office/officeart/2005/8/layout/vList6"/>
    <dgm:cxn modelId="{C362FB5A-3892-4085-AAB4-67927DBD614E}" srcId="{C8F56CB4-F924-476D-98CA-4377A036EB97}" destId="{E2B0F849-2125-4EFF-9DEB-D26114FEA364}" srcOrd="2" destOrd="0" parTransId="{C4A93058-60F1-451C-B1F2-F74DB1B6FDAA}" sibTransId="{A2233141-13EB-4A34-91C7-6A321A7461B5}"/>
    <dgm:cxn modelId="{25398227-8764-425E-8002-4D8E4DE7F28F}" type="presOf" srcId="{E182CE1B-8716-41C2-90D6-2B62CB426FCC}" destId="{E6FE839D-53C1-4A7E-917A-D4A929B88757}" srcOrd="0" destOrd="1" presId="urn:microsoft.com/office/officeart/2005/8/layout/vList6"/>
    <dgm:cxn modelId="{5EB5D1F5-F4FC-4721-ADBD-4B1C882FCC3F}" type="presOf" srcId="{39795CB9-6565-417F-ACDD-01FE465B85D6}" destId="{E6FE839D-53C1-4A7E-917A-D4A929B88757}" srcOrd="0" destOrd="0" presId="urn:microsoft.com/office/officeart/2005/8/layout/vList6"/>
    <dgm:cxn modelId="{5509881B-4710-4A67-BF83-5D392F802223}" srcId="{EC675988-8119-4788-A853-4D2B3C9A752B}" destId="{973CA0AB-ACC9-460F-BC70-4048A0C469AB}" srcOrd="0" destOrd="0" parTransId="{26E0111F-7B16-4786-827D-039C52507496}" sibTransId="{DC051267-E4B5-448F-9872-6C75C0165280}"/>
    <dgm:cxn modelId="{40D045B1-EE8B-49F1-9016-6705964DC5A6}" srcId="{43B7C4FA-2DA6-4D8F-9E12-91A914FCFA1D}" destId="{EC675988-8119-4788-A853-4D2B3C9A752B}" srcOrd="0" destOrd="0" parTransId="{0D5AD285-D1BB-4B62-904D-F31AAD6ACF38}" sibTransId="{F748115D-6949-4C96-8435-A51967ED59BB}"/>
    <dgm:cxn modelId="{FB54F0C2-2DF8-49B4-AD8B-5EC8CAC6491E}" srcId="{EC675988-8119-4788-A853-4D2B3C9A752B}" destId="{CE4D9EC2-EFC2-4DBF-BC92-6CEE4A544744}" srcOrd="1" destOrd="0" parTransId="{A1ABCA2D-A004-4FC3-9210-8FC67A415568}" sibTransId="{7A1E049B-6FC2-499A-918E-1F2448068E11}"/>
    <dgm:cxn modelId="{93D30314-7864-4866-9C3C-DE9BAB8C597B}" type="presOf" srcId="{C8F56CB4-F924-476D-98CA-4377A036EB97}" destId="{FB7B6912-1B5A-4BD4-97CC-3274969293E2}" srcOrd="0" destOrd="0" presId="urn:microsoft.com/office/officeart/2005/8/layout/vList6"/>
    <dgm:cxn modelId="{8D2CFB69-BDFA-406E-8E7E-54D35F0DBEB2}" srcId="{43B7C4FA-2DA6-4D8F-9E12-91A914FCFA1D}" destId="{C8F56CB4-F924-476D-98CA-4377A036EB97}" srcOrd="1" destOrd="0" parTransId="{892515C2-0625-4968-B6B4-479EF0891EE4}" sibTransId="{FFC11955-D56A-4F0E-AFF9-EF5B9A93A802}"/>
    <dgm:cxn modelId="{6588B967-53B0-447F-A137-5ADEE9FE6C79}" type="presOf" srcId="{43B7C4FA-2DA6-4D8F-9E12-91A914FCFA1D}" destId="{4E2BC67C-F4FE-486C-AB1A-E514CA48A4F7}" srcOrd="0" destOrd="0" presId="urn:microsoft.com/office/officeart/2005/8/layout/vList6"/>
    <dgm:cxn modelId="{063D1B11-BD65-499B-9E84-FB3E0E47AC24}" type="presOf" srcId="{973CA0AB-ACC9-460F-BC70-4048A0C469AB}" destId="{31E910F4-6631-4755-A918-3AFE60ECB317}" srcOrd="0" destOrd="0" presId="urn:microsoft.com/office/officeart/2005/8/layout/vList6"/>
    <dgm:cxn modelId="{55F8F478-7B4B-42CC-AFDD-F4026D004CEA}" srcId="{C8F56CB4-F924-476D-98CA-4377A036EB97}" destId="{39795CB9-6565-417F-ACDD-01FE465B85D6}" srcOrd="0" destOrd="0" parTransId="{3CD71D58-B3C5-42C7-AD70-DA44FA256EA8}" sibTransId="{6BE95406-26F5-4E20-B485-15735E6175B1}"/>
    <dgm:cxn modelId="{F3E3F5E0-9ED7-4146-90EF-EE469087C1A6}" srcId="{EC675988-8119-4788-A853-4D2B3C9A752B}" destId="{B79BFC61-7B06-4EE1-85FB-B3AB1B5C60D2}" srcOrd="2" destOrd="0" parTransId="{790AE3F6-0DBC-4C26-BB41-341B69CD42E6}" sibTransId="{D5996FF8-00E8-40AA-8C28-BE0BB1DF5C3A}"/>
    <dgm:cxn modelId="{8DDEC443-1771-49E0-8210-8072459E2460}" type="presOf" srcId="{E2B0F849-2125-4EFF-9DEB-D26114FEA364}" destId="{E6FE839D-53C1-4A7E-917A-D4A929B88757}" srcOrd="0" destOrd="2" presId="urn:microsoft.com/office/officeart/2005/8/layout/vList6"/>
    <dgm:cxn modelId="{E393C397-9AC8-4D73-84E8-B11C51CE4581}" srcId="{C8F56CB4-F924-476D-98CA-4377A036EB97}" destId="{E182CE1B-8716-41C2-90D6-2B62CB426FCC}" srcOrd="1" destOrd="0" parTransId="{2E2A0BCC-0C69-4F19-8FD5-F4159EFE0EBD}" sibTransId="{283F41AC-B731-4ACB-8B86-2D08EFBF77D2}"/>
    <dgm:cxn modelId="{7CED14D1-5F75-408A-A6B8-B4AE56BCAAD5}" type="presOf" srcId="{CE4D9EC2-EFC2-4DBF-BC92-6CEE4A544744}" destId="{31E910F4-6631-4755-A918-3AFE60ECB317}" srcOrd="0" destOrd="1" presId="urn:microsoft.com/office/officeart/2005/8/layout/vList6"/>
    <dgm:cxn modelId="{DA057216-E8C1-4376-8881-1FE180133D3A}" type="presParOf" srcId="{4E2BC67C-F4FE-486C-AB1A-E514CA48A4F7}" destId="{D32881DA-5C67-4F4F-8EB3-BD2C283AB8AD}" srcOrd="0" destOrd="0" presId="urn:microsoft.com/office/officeart/2005/8/layout/vList6"/>
    <dgm:cxn modelId="{529800D5-1C16-4998-A4AA-C4352CA17F49}" type="presParOf" srcId="{D32881DA-5C67-4F4F-8EB3-BD2C283AB8AD}" destId="{1C022E61-4D89-4073-98DC-343A14A40F86}" srcOrd="0" destOrd="0" presId="urn:microsoft.com/office/officeart/2005/8/layout/vList6"/>
    <dgm:cxn modelId="{ECD0F002-C6AC-40CD-A18E-8907C5FD9CA5}" type="presParOf" srcId="{D32881DA-5C67-4F4F-8EB3-BD2C283AB8AD}" destId="{31E910F4-6631-4755-A918-3AFE60ECB317}" srcOrd="1" destOrd="0" presId="urn:microsoft.com/office/officeart/2005/8/layout/vList6"/>
    <dgm:cxn modelId="{E1693803-087C-46E2-AD4F-06E653D4B9F0}" type="presParOf" srcId="{4E2BC67C-F4FE-486C-AB1A-E514CA48A4F7}" destId="{6D108B6D-9342-4CBD-91A3-D7F9C051C4EC}" srcOrd="1" destOrd="0" presId="urn:microsoft.com/office/officeart/2005/8/layout/vList6"/>
    <dgm:cxn modelId="{D875A686-27AB-43D3-B782-1C9C55612511}" type="presParOf" srcId="{4E2BC67C-F4FE-486C-AB1A-E514CA48A4F7}" destId="{200AC3BA-A1DE-4079-8CE8-5DC1794F15AF}" srcOrd="2" destOrd="0" presId="urn:microsoft.com/office/officeart/2005/8/layout/vList6"/>
    <dgm:cxn modelId="{D0CA51B7-BE85-49A4-BAD4-F2DB7FD754F6}" type="presParOf" srcId="{200AC3BA-A1DE-4079-8CE8-5DC1794F15AF}" destId="{FB7B6912-1B5A-4BD4-97CC-3274969293E2}" srcOrd="0" destOrd="0" presId="urn:microsoft.com/office/officeart/2005/8/layout/vList6"/>
    <dgm:cxn modelId="{137DC8E4-9C02-486C-91A4-2895B981A0AA}" type="presParOf" srcId="{200AC3BA-A1DE-4079-8CE8-5DC1794F15AF}" destId="{E6FE839D-53C1-4A7E-917A-D4A929B88757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93B313-3ED1-4FB4-837B-D1DBB33A093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3A047C-63CC-4033-8C62-3BD30E7C36A0}">
      <dgm:prSet phldrT="[Text]"/>
      <dgm:spPr/>
      <dgm:t>
        <a:bodyPr/>
        <a:lstStyle/>
        <a:p>
          <a:r>
            <a:rPr lang="en-US" dirty="0" smtClean="0"/>
            <a:t>Bridges and piers</a:t>
          </a:r>
          <a:endParaRPr lang="en-US" dirty="0"/>
        </a:p>
      </dgm:t>
    </dgm:pt>
    <dgm:pt modelId="{EE3CAAE6-D568-428B-828A-D1B27C373AE0}" type="parTrans" cxnId="{16D15F26-1BC6-49AD-BE27-A67765E942D7}">
      <dgm:prSet/>
      <dgm:spPr/>
      <dgm:t>
        <a:bodyPr/>
        <a:lstStyle/>
        <a:p>
          <a:endParaRPr lang="en-US"/>
        </a:p>
      </dgm:t>
    </dgm:pt>
    <dgm:pt modelId="{0C48C600-1CD7-4B84-94FD-30F9E9824DE6}" type="sibTrans" cxnId="{16D15F26-1BC6-49AD-BE27-A67765E942D7}">
      <dgm:prSet/>
      <dgm:spPr/>
      <dgm:t>
        <a:bodyPr/>
        <a:lstStyle/>
        <a:p>
          <a:endParaRPr lang="en-US"/>
        </a:p>
      </dgm:t>
    </dgm:pt>
    <dgm:pt modelId="{A9EB3AA6-6C28-4BD4-A9DB-AE45C7C946C9}">
      <dgm:prSet phldrT="[Text]"/>
      <dgm:spPr/>
      <dgm:t>
        <a:bodyPr/>
        <a:lstStyle/>
        <a:p>
          <a:r>
            <a:rPr lang="en-US" dirty="0" smtClean="0"/>
            <a:t>Economic benefits</a:t>
          </a:r>
          <a:endParaRPr lang="en-US" dirty="0"/>
        </a:p>
      </dgm:t>
    </dgm:pt>
    <dgm:pt modelId="{E53F1FEE-9CD5-46CC-9CBF-A902AC11C6E8}" type="parTrans" cxnId="{4ED2EC4F-A07C-4F8C-B92A-8BAE14BE3D77}">
      <dgm:prSet/>
      <dgm:spPr/>
      <dgm:t>
        <a:bodyPr/>
        <a:lstStyle/>
        <a:p>
          <a:endParaRPr lang="en-US"/>
        </a:p>
      </dgm:t>
    </dgm:pt>
    <dgm:pt modelId="{5E24BCB5-EBD3-46A4-B141-509A0A9728F5}" type="sibTrans" cxnId="{4ED2EC4F-A07C-4F8C-B92A-8BAE14BE3D77}">
      <dgm:prSet/>
      <dgm:spPr/>
      <dgm:t>
        <a:bodyPr/>
        <a:lstStyle/>
        <a:p>
          <a:endParaRPr lang="en-US"/>
        </a:p>
      </dgm:t>
    </dgm:pt>
    <dgm:pt modelId="{EF45FD6E-3FFB-4E8D-B954-94A12BCC3239}">
      <dgm:prSet phldrT="[Text]"/>
      <dgm:spPr/>
      <dgm:t>
        <a:bodyPr/>
        <a:lstStyle/>
        <a:p>
          <a:r>
            <a:rPr lang="en-US" dirty="0" smtClean="0"/>
            <a:t>Sustainability</a:t>
          </a:r>
          <a:endParaRPr lang="en-US" dirty="0"/>
        </a:p>
      </dgm:t>
    </dgm:pt>
    <dgm:pt modelId="{711485F7-E429-4E17-90D1-10083EE3FC91}" type="parTrans" cxnId="{846E5375-DBD6-4F98-B6A0-DC721445E97B}">
      <dgm:prSet/>
      <dgm:spPr/>
      <dgm:t>
        <a:bodyPr/>
        <a:lstStyle/>
        <a:p>
          <a:endParaRPr lang="en-US"/>
        </a:p>
      </dgm:t>
    </dgm:pt>
    <dgm:pt modelId="{CF5FD24B-8128-46BC-8946-545E925C3E4C}" type="sibTrans" cxnId="{846E5375-DBD6-4F98-B6A0-DC721445E97B}">
      <dgm:prSet/>
      <dgm:spPr/>
      <dgm:t>
        <a:bodyPr/>
        <a:lstStyle/>
        <a:p>
          <a:endParaRPr lang="en-US"/>
        </a:p>
      </dgm:t>
    </dgm:pt>
    <dgm:pt modelId="{C91BD930-9002-49F0-9B94-20B43FA50B6F}">
      <dgm:prSet phldrT="[Text]"/>
      <dgm:spPr/>
      <dgm:t>
        <a:bodyPr/>
        <a:lstStyle/>
        <a:p>
          <a:r>
            <a:rPr lang="en-US" dirty="0" smtClean="0"/>
            <a:t>CO2 sequestration by the bacteria</a:t>
          </a:r>
          <a:endParaRPr lang="en-US" dirty="0"/>
        </a:p>
      </dgm:t>
    </dgm:pt>
    <dgm:pt modelId="{A23114C2-1478-478C-A5FE-34898384DC4B}" type="parTrans" cxnId="{CFC68FEE-8862-48D9-BE1E-7C478615F522}">
      <dgm:prSet/>
      <dgm:spPr/>
      <dgm:t>
        <a:bodyPr/>
        <a:lstStyle/>
        <a:p>
          <a:endParaRPr lang="en-US"/>
        </a:p>
      </dgm:t>
    </dgm:pt>
    <dgm:pt modelId="{94302A20-DB4E-4430-9C5C-37F1104AC745}" type="sibTrans" cxnId="{CFC68FEE-8862-48D9-BE1E-7C478615F522}">
      <dgm:prSet/>
      <dgm:spPr/>
      <dgm:t>
        <a:bodyPr/>
        <a:lstStyle/>
        <a:p>
          <a:endParaRPr lang="en-US"/>
        </a:p>
      </dgm:t>
    </dgm:pt>
    <dgm:pt modelId="{E9F429EF-6569-4FDB-939A-A1791BA68CEE}">
      <dgm:prSet phldrT="[Text]"/>
      <dgm:spPr/>
      <dgm:t>
        <a:bodyPr/>
        <a:lstStyle/>
        <a:p>
          <a:r>
            <a:rPr lang="en-US" dirty="0" smtClean="0"/>
            <a:t>Lifespan of structures increases</a:t>
          </a:r>
          <a:endParaRPr lang="en-US" dirty="0"/>
        </a:p>
      </dgm:t>
    </dgm:pt>
    <dgm:pt modelId="{EFE5247B-9691-4929-BC19-FF3FEA868558}" type="parTrans" cxnId="{8F2F4CF8-509F-4A43-A9EB-F5FCE66C4B8A}">
      <dgm:prSet/>
      <dgm:spPr/>
      <dgm:t>
        <a:bodyPr/>
        <a:lstStyle/>
        <a:p>
          <a:endParaRPr lang="en-US"/>
        </a:p>
      </dgm:t>
    </dgm:pt>
    <dgm:pt modelId="{1D71D52D-180E-40DB-A203-F7BFA8DF0F49}" type="sibTrans" cxnId="{8F2F4CF8-509F-4A43-A9EB-F5FCE66C4B8A}">
      <dgm:prSet/>
      <dgm:spPr/>
      <dgm:t>
        <a:bodyPr/>
        <a:lstStyle/>
        <a:p>
          <a:endParaRPr lang="en-US"/>
        </a:p>
      </dgm:t>
    </dgm:pt>
    <dgm:pt modelId="{BB7A6CCD-E6DC-44A1-8D0C-3A023ED03C65}">
      <dgm:prSet/>
      <dgm:spPr/>
      <dgm:t>
        <a:bodyPr/>
        <a:lstStyle/>
        <a:p>
          <a:r>
            <a:rPr lang="en-US" dirty="0" smtClean="0"/>
            <a:t>Protects mass concrete: Custom-designed for heavy-duty marine structures and bridges.</a:t>
          </a:r>
          <a:endParaRPr lang="en-US" dirty="0"/>
        </a:p>
      </dgm:t>
    </dgm:pt>
    <dgm:pt modelId="{73BC5450-A877-4BFB-A0BD-3A546CA07521}" type="parTrans" cxnId="{32B67D7B-28A0-49CF-A136-F0C38388A875}">
      <dgm:prSet/>
      <dgm:spPr/>
      <dgm:t>
        <a:bodyPr/>
        <a:lstStyle/>
        <a:p>
          <a:endParaRPr lang="en-US"/>
        </a:p>
      </dgm:t>
    </dgm:pt>
    <dgm:pt modelId="{9C330359-8B4A-41B5-A431-342FCCC6A443}" type="sibTrans" cxnId="{32B67D7B-28A0-49CF-A136-F0C38388A875}">
      <dgm:prSet/>
      <dgm:spPr/>
      <dgm:t>
        <a:bodyPr/>
        <a:lstStyle/>
        <a:p>
          <a:endParaRPr lang="en-US"/>
        </a:p>
      </dgm:t>
    </dgm:pt>
    <dgm:pt modelId="{31BD94DF-9CD6-4388-9493-3109CF98A150}">
      <dgm:prSet/>
      <dgm:spPr/>
      <dgm:t>
        <a:bodyPr/>
        <a:lstStyle/>
        <a:p>
          <a:r>
            <a:rPr lang="en-US" dirty="0" smtClean="0"/>
            <a:t>Stops rust</a:t>
          </a:r>
          <a:endParaRPr lang="en-US" dirty="0"/>
        </a:p>
      </dgm:t>
    </dgm:pt>
    <dgm:pt modelId="{D75588AE-C7E7-4630-B0F8-CF59C9A553E5}" type="parTrans" cxnId="{6DE3A221-F7B0-42C7-9C58-38A11A2D5DC4}">
      <dgm:prSet/>
      <dgm:spPr/>
      <dgm:t>
        <a:bodyPr/>
        <a:lstStyle/>
        <a:p>
          <a:endParaRPr lang="en-US"/>
        </a:p>
      </dgm:t>
    </dgm:pt>
    <dgm:pt modelId="{1A61422D-8291-4F5A-8960-445545152F51}" type="sibTrans" cxnId="{6DE3A221-F7B0-42C7-9C58-38A11A2D5DC4}">
      <dgm:prSet/>
      <dgm:spPr/>
      <dgm:t>
        <a:bodyPr/>
        <a:lstStyle/>
        <a:p>
          <a:endParaRPr lang="en-US"/>
        </a:p>
      </dgm:t>
    </dgm:pt>
    <dgm:pt modelId="{CB24B47F-FF15-4FE7-A936-2334BA488DE3}">
      <dgm:prSet/>
      <dgm:spPr/>
      <dgm:t>
        <a:bodyPr/>
        <a:lstStyle/>
        <a:p>
          <a:r>
            <a:rPr lang="en-US" dirty="0" smtClean="0"/>
            <a:t>Smart monitoring: Reduces the need of expensive manual inspections due to the dashboard system.</a:t>
          </a:r>
          <a:endParaRPr lang="en-US" dirty="0"/>
        </a:p>
      </dgm:t>
    </dgm:pt>
    <dgm:pt modelId="{0DD12752-A321-4E6C-BF43-965269753DF2}" type="parTrans" cxnId="{7AFF3D13-17F3-46B6-BD9A-F7ACB1FF0C54}">
      <dgm:prSet/>
      <dgm:spPr/>
      <dgm:t>
        <a:bodyPr/>
        <a:lstStyle/>
        <a:p>
          <a:endParaRPr lang="en-US"/>
        </a:p>
      </dgm:t>
    </dgm:pt>
    <dgm:pt modelId="{A43777F6-FA1C-4F2E-AEDD-A4F44B232CB4}" type="sibTrans" cxnId="{7AFF3D13-17F3-46B6-BD9A-F7ACB1FF0C54}">
      <dgm:prSet/>
      <dgm:spPr/>
      <dgm:t>
        <a:bodyPr/>
        <a:lstStyle/>
        <a:p>
          <a:endParaRPr lang="en-US"/>
        </a:p>
      </dgm:t>
    </dgm:pt>
    <dgm:pt modelId="{0147C15B-CF38-4AA5-889D-AD5D4784FCFD}">
      <dgm:prSet/>
      <dgm:spPr/>
      <dgm:t>
        <a:bodyPr/>
        <a:lstStyle/>
        <a:p>
          <a:r>
            <a:rPr lang="en-US" dirty="0" smtClean="0"/>
            <a:t>Reduces long term </a:t>
          </a:r>
          <a:r>
            <a:rPr lang="en-US" dirty="0" err="1" smtClean="0"/>
            <a:t>maintainance</a:t>
          </a:r>
          <a:r>
            <a:rPr lang="en-US" dirty="0" smtClean="0"/>
            <a:t> </a:t>
          </a:r>
          <a:r>
            <a:rPr lang="en-US" dirty="0" smtClean="0"/>
            <a:t>costs</a:t>
          </a:r>
          <a:endParaRPr lang="en-US" dirty="0"/>
        </a:p>
      </dgm:t>
    </dgm:pt>
    <dgm:pt modelId="{7C9B30F6-8548-40C3-AD9F-8DB09B0F5A3C}" type="parTrans" cxnId="{B964F29E-BC26-46E5-88A3-3ACE740666FC}">
      <dgm:prSet/>
      <dgm:spPr/>
      <dgm:t>
        <a:bodyPr/>
        <a:lstStyle/>
        <a:p>
          <a:endParaRPr lang="en-US"/>
        </a:p>
      </dgm:t>
    </dgm:pt>
    <dgm:pt modelId="{3C7A0080-43A3-4AE6-B537-D78B8C14C98A}" type="sibTrans" cxnId="{B964F29E-BC26-46E5-88A3-3ACE740666FC}">
      <dgm:prSet/>
      <dgm:spPr/>
      <dgm:t>
        <a:bodyPr/>
        <a:lstStyle/>
        <a:p>
          <a:endParaRPr lang="en-US"/>
        </a:p>
      </dgm:t>
    </dgm:pt>
    <dgm:pt modelId="{F43E3A6A-D13E-42B9-AF53-C5C6AA0CF9C6}">
      <dgm:prSet/>
      <dgm:spPr/>
      <dgm:t>
        <a:bodyPr/>
        <a:lstStyle/>
        <a:p>
          <a:r>
            <a:rPr lang="en-US" dirty="0" smtClean="0"/>
            <a:t>Though the idea itself is not the cheapest option out there, but it heals the cracks in the innermost, unreachable layers of concrete increasing its lifespan.</a:t>
          </a:r>
          <a:endParaRPr lang="en-US" dirty="0"/>
        </a:p>
      </dgm:t>
    </dgm:pt>
    <dgm:pt modelId="{541C25AA-16DE-45DC-873C-A724A7B8A37B}" type="parTrans" cxnId="{C283907A-ABA7-44BA-9CAA-46D45EB0F83B}">
      <dgm:prSet/>
      <dgm:spPr/>
      <dgm:t>
        <a:bodyPr/>
        <a:lstStyle/>
        <a:p>
          <a:endParaRPr lang="en-US"/>
        </a:p>
      </dgm:t>
    </dgm:pt>
    <dgm:pt modelId="{D06A449A-BA7E-4E5E-A626-59729DEBF66D}" type="sibTrans" cxnId="{C283907A-ABA7-44BA-9CAA-46D45EB0F83B}">
      <dgm:prSet/>
      <dgm:spPr/>
      <dgm:t>
        <a:bodyPr/>
        <a:lstStyle/>
        <a:p>
          <a:endParaRPr lang="en-US"/>
        </a:p>
      </dgm:t>
    </dgm:pt>
    <dgm:pt modelId="{5FDB25C0-844E-4A18-AE2A-55F927954296}">
      <dgm:prSet phldrT="[Text]"/>
      <dgm:spPr/>
      <dgm:t>
        <a:bodyPr/>
        <a:lstStyle/>
        <a:p>
          <a:r>
            <a:rPr lang="en-US" dirty="0" smtClean="0"/>
            <a:t>Repairs without closing roads</a:t>
          </a:r>
          <a:endParaRPr lang="en-US" dirty="0"/>
        </a:p>
      </dgm:t>
    </dgm:pt>
    <dgm:pt modelId="{F000D6D0-1EF9-493B-B615-7556D23883E7}" type="parTrans" cxnId="{31D55441-F994-4E58-8A0A-96FBAD932769}">
      <dgm:prSet/>
      <dgm:spPr/>
      <dgm:t>
        <a:bodyPr/>
        <a:lstStyle/>
        <a:p>
          <a:endParaRPr lang="en-US"/>
        </a:p>
      </dgm:t>
    </dgm:pt>
    <dgm:pt modelId="{1980DC36-87F0-4057-B70A-6448EFF65A7B}" type="sibTrans" cxnId="{31D55441-F994-4E58-8A0A-96FBAD932769}">
      <dgm:prSet/>
      <dgm:spPr/>
      <dgm:t>
        <a:bodyPr/>
        <a:lstStyle/>
        <a:p>
          <a:endParaRPr lang="en-US"/>
        </a:p>
      </dgm:t>
    </dgm:pt>
    <dgm:pt modelId="{E52A3905-C2FD-4D9E-AF46-1BD2BD9E0A94}" type="pres">
      <dgm:prSet presAssocID="{7793B313-3ED1-4FB4-837B-D1DBB33A093A}" presName="Name0" presStyleCnt="0">
        <dgm:presLayoutVars>
          <dgm:dir/>
          <dgm:animLvl val="lvl"/>
          <dgm:resizeHandles val="exact"/>
        </dgm:presLayoutVars>
      </dgm:prSet>
      <dgm:spPr/>
    </dgm:pt>
    <dgm:pt modelId="{055DB609-F7E3-417C-9AD2-6E2C45DEB073}" type="pres">
      <dgm:prSet presAssocID="{653A047C-63CC-4033-8C62-3BD30E7C36A0}" presName="composite" presStyleCnt="0"/>
      <dgm:spPr/>
    </dgm:pt>
    <dgm:pt modelId="{7DD8BCE6-963A-494F-BFD7-9FC994E6C62C}" type="pres">
      <dgm:prSet presAssocID="{653A047C-63CC-4033-8C62-3BD30E7C36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A4C95E-FACA-4342-891C-0FDCBAE22126}" type="pres">
      <dgm:prSet presAssocID="{653A047C-63CC-4033-8C62-3BD30E7C36A0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5600D6-74DA-4519-881F-26136768DDAC}" type="pres">
      <dgm:prSet presAssocID="{0C48C600-1CD7-4B84-94FD-30F9E9824DE6}" presName="space" presStyleCnt="0"/>
      <dgm:spPr/>
    </dgm:pt>
    <dgm:pt modelId="{BE625078-6562-4F62-871A-3D0AEA55716F}" type="pres">
      <dgm:prSet presAssocID="{A9EB3AA6-6C28-4BD4-A9DB-AE45C7C946C9}" presName="composite" presStyleCnt="0"/>
      <dgm:spPr/>
    </dgm:pt>
    <dgm:pt modelId="{69EF3DB9-4DC3-4351-AF92-09F0A8D0EF95}" type="pres">
      <dgm:prSet presAssocID="{A9EB3AA6-6C28-4BD4-A9DB-AE45C7C946C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E65A98F-D39F-43F3-9921-3C13FD828708}" type="pres">
      <dgm:prSet presAssocID="{A9EB3AA6-6C28-4BD4-A9DB-AE45C7C946C9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60BACB-14A6-4BED-9081-786B00783065}" type="pres">
      <dgm:prSet presAssocID="{5E24BCB5-EBD3-46A4-B141-509A0A9728F5}" presName="space" presStyleCnt="0"/>
      <dgm:spPr/>
    </dgm:pt>
    <dgm:pt modelId="{A3E6859C-95B9-4A79-8D2F-0103D61E5849}" type="pres">
      <dgm:prSet presAssocID="{EF45FD6E-3FFB-4E8D-B954-94A12BCC3239}" presName="composite" presStyleCnt="0"/>
      <dgm:spPr/>
    </dgm:pt>
    <dgm:pt modelId="{A4014F74-9B9C-427B-8A62-9DA14EBD18AC}" type="pres">
      <dgm:prSet presAssocID="{EF45FD6E-3FFB-4E8D-B954-94A12BCC323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4FA34F-0BD0-4B8E-A7A2-7D0A8E84E5F0}" type="pres">
      <dgm:prSet presAssocID="{EF45FD6E-3FFB-4E8D-B954-94A12BCC3239}" presName="desTx" presStyleLbl="alignAccFollowNode1" presStyleIdx="2" presStyleCnt="3" custLinFactY="37297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F2F4CF8-509F-4A43-A9EB-F5FCE66C4B8A}" srcId="{EF45FD6E-3FFB-4E8D-B954-94A12BCC3239}" destId="{E9F429EF-6569-4FDB-939A-A1791BA68CEE}" srcOrd="1" destOrd="0" parTransId="{EFE5247B-9691-4929-BC19-FF3FEA868558}" sibTransId="{1D71D52D-180E-40DB-A203-F7BFA8DF0F49}"/>
    <dgm:cxn modelId="{6DE3A221-F7B0-42C7-9C58-38A11A2D5DC4}" srcId="{653A047C-63CC-4033-8C62-3BD30E7C36A0}" destId="{31BD94DF-9CD6-4388-9493-3109CF98A150}" srcOrd="1" destOrd="0" parTransId="{D75588AE-C7E7-4630-B0F8-CF59C9A553E5}" sibTransId="{1A61422D-8291-4F5A-8960-445545152F51}"/>
    <dgm:cxn modelId="{17DA9A91-E292-4FC2-B130-EBE1E2D6B14D}" type="presOf" srcId="{653A047C-63CC-4033-8C62-3BD30E7C36A0}" destId="{7DD8BCE6-963A-494F-BFD7-9FC994E6C62C}" srcOrd="0" destOrd="0" presId="urn:microsoft.com/office/officeart/2005/8/layout/hList1"/>
    <dgm:cxn modelId="{C184A037-C338-4AF3-97E8-D8A2D1110FD4}" type="presOf" srcId="{F43E3A6A-D13E-42B9-AF53-C5C6AA0CF9C6}" destId="{9E65A98F-D39F-43F3-9921-3C13FD828708}" srcOrd="0" destOrd="1" presId="urn:microsoft.com/office/officeart/2005/8/layout/hList1"/>
    <dgm:cxn modelId="{C283907A-ABA7-44BA-9CAA-46D45EB0F83B}" srcId="{A9EB3AA6-6C28-4BD4-A9DB-AE45C7C946C9}" destId="{F43E3A6A-D13E-42B9-AF53-C5C6AA0CF9C6}" srcOrd="1" destOrd="0" parTransId="{541C25AA-16DE-45DC-873C-A724A7B8A37B}" sibTransId="{D06A449A-BA7E-4E5E-A626-59729DEBF66D}"/>
    <dgm:cxn modelId="{B964F29E-BC26-46E5-88A3-3ACE740666FC}" srcId="{A9EB3AA6-6C28-4BD4-A9DB-AE45C7C946C9}" destId="{0147C15B-CF38-4AA5-889D-AD5D4784FCFD}" srcOrd="0" destOrd="0" parTransId="{7C9B30F6-8548-40C3-AD9F-8DB09B0F5A3C}" sibTransId="{3C7A0080-43A3-4AE6-B537-D78B8C14C98A}"/>
    <dgm:cxn modelId="{31D55441-F994-4E58-8A0A-96FBAD932769}" srcId="{EF45FD6E-3FFB-4E8D-B954-94A12BCC3239}" destId="{5FDB25C0-844E-4A18-AE2A-55F927954296}" srcOrd="2" destOrd="0" parTransId="{F000D6D0-1EF9-493B-B615-7556D23883E7}" sibTransId="{1980DC36-87F0-4057-B70A-6448EFF65A7B}"/>
    <dgm:cxn modelId="{C5F467B0-4CB3-4E39-AC41-789005E25344}" type="presOf" srcId="{7793B313-3ED1-4FB4-837B-D1DBB33A093A}" destId="{E52A3905-C2FD-4D9E-AF46-1BD2BD9E0A94}" srcOrd="0" destOrd="0" presId="urn:microsoft.com/office/officeart/2005/8/layout/hList1"/>
    <dgm:cxn modelId="{13180278-B7F5-4AC3-983A-F0A82FC9E211}" type="presOf" srcId="{BB7A6CCD-E6DC-44A1-8D0C-3A023ED03C65}" destId="{DAA4C95E-FACA-4342-891C-0FDCBAE22126}" srcOrd="0" destOrd="0" presId="urn:microsoft.com/office/officeart/2005/8/layout/hList1"/>
    <dgm:cxn modelId="{61E0E58C-62EB-4F90-A73A-5F1A8A790BD0}" type="presOf" srcId="{CB24B47F-FF15-4FE7-A936-2334BA488DE3}" destId="{DAA4C95E-FACA-4342-891C-0FDCBAE22126}" srcOrd="0" destOrd="2" presId="urn:microsoft.com/office/officeart/2005/8/layout/hList1"/>
    <dgm:cxn modelId="{7E434553-D4CE-46D6-B7DF-95D7B738D4FF}" type="presOf" srcId="{5FDB25C0-844E-4A18-AE2A-55F927954296}" destId="{F34FA34F-0BD0-4B8E-A7A2-7D0A8E84E5F0}" srcOrd="0" destOrd="2" presId="urn:microsoft.com/office/officeart/2005/8/layout/hList1"/>
    <dgm:cxn modelId="{846E5375-DBD6-4F98-B6A0-DC721445E97B}" srcId="{7793B313-3ED1-4FB4-837B-D1DBB33A093A}" destId="{EF45FD6E-3FFB-4E8D-B954-94A12BCC3239}" srcOrd="2" destOrd="0" parTransId="{711485F7-E429-4E17-90D1-10083EE3FC91}" sibTransId="{CF5FD24B-8128-46BC-8946-545E925C3E4C}"/>
    <dgm:cxn modelId="{CCA0434A-6A1B-4547-86E6-D7F419E46D4F}" type="presOf" srcId="{C91BD930-9002-49F0-9B94-20B43FA50B6F}" destId="{F34FA34F-0BD0-4B8E-A7A2-7D0A8E84E5F0}" srcOrd="0" destOrd="0" presId="urn:microsoft.com/office/officeart/2005/8/layout/hList1"/>
    <dgm:cxn modelId="{52B1BD08-5269-4D20-87FA-51A301EB675D}" type="presOf" srcId="{31BD94DF-9CD6-4388-9493-3109CF98A150}" destId="{DAA4C95E-FACA-4342-891C-0FDCBAE22126}" srcOrd="0" destOrd="1" presId="urn:microsoft.com/office/officeart/2005/8/layout/hList1"/>
    <dgm:cxn modelId="{7AFF3D13-17F3-46B6-BD9A-F7ACB1FF0C54}" srcId="{653A047C-63CC-4033-8C62-3BD30E7C36A0}" destId="{CB24B47F-FF15-4FE7-A936-2334BA488DE3}" srcOrd="2" destOrd="0" parTransId="{0DD12752-A321-4E6C-BF43-965269753DF2}" sibTransId="{A43777F6-FA1C-4F2E-AEDD-A4F44B232CB4}"/>
    <dgm:cxn modelId="{32B67D7B-28A0-49CF-A136-F0C38388A875}" srcId="{653A047C-63CC-4033-8C62-3BD30E7C36A0}" destId="{BB7A6CCD-E6DC-44A1-8D0C-3A023ED03C65}" srcOrd="0" destOrd="0" parTransId="{73BC5450-A877-4BFB-A0BD-3A546CA07521}" sibTransId="{9C330359-8B4A-41B5-A431-342FCCC6A443}"/>
    <dgm:cxn modelId="{2CA67A04-3833-4DFF-B9BE-BC44DB75F951}" type="presOf" srcId="{0147C15B-CF38-4AA5-889D-AD5D4784FCFD}" destId="{9E65A98F-D39F-43F3-9921-3C13FD828708}" srcOrd="0" destOrd="0" presId="urn:microsoft.com/office/officeart/2005/8/layout/hList1"/>
    <dgm:cxn modelId="{A3946F68-F7F3-4102-AAD2-CEA276366C1F}" type="presOf" srcId="{E9F429EF-6569-4FDB-939A-A1791BA68CEE}" destId="{F34FA34F-0BD0-4B8E-A7A2-7D0A8E84E5F0}" srcOrd="0" destOrd="1" presId="urn:microsoft.com/office/officeart/2005/8/layout/hList1"/>
    <dgm:cxn modelId="{E620C9D4-CE70-4522-8F9E-7C759E9384DB}" type="presOf" srcId="{A9EB3AA6-6C28-4BD4-A9DB-AE45C7C946C9}" destId="{69EF3DB9-4DC3-4351-AF92-09F0A8D0EF95}" srcOrd="0" destOrd="0" presId="urn:microsoft.com/office/officeart/2005/8/layout/hList1"/>
    <dgm:cxn modelId="{CFC68FEE-8862-48D9-BE1E-7C478615F522}" srcId="{EF45FD6E-3FFB-4E8D-B954-94A12BCC3239}" destId="{C91BD930-9002-49F0-9B94-20B43FA50B6F}" srcOrd="0" destOrd="0" parTransId="{A23114C2-1478-478C-A5FE-34898384DC4B}" sibTransId="{94302A20-DB4E-4430-9C5C-37F1104AC745}"/>
    <dgm:cxn modelId="{16D15F26-1BC6-49AD-BE27-A67765E942D7}" srcId="{7793B313-3ED1-4FB4-837B-D1DBB33A093A}" destId="{653A047C-63CC-4033-8C62-3BD30E7C36A0}" srcOrd="0" destOrd="0" parTransId="{EE3CAAE6-D568-428B-828A-D1B27C373AE0}" sibTransId="{0C48C600-1CD7-4B84-94FD-30F9E9824DE6}"/>
    <dgm:cxn modelId="{4ED2EC4F-A07C-4F8C-B92A-8BAE14BE3D77}" srcId="{7793B313-3ED1-4FB4-837B-D1DBB33A093A}" destId="{A9EB3AA6-6C28-4BD4-A9DB-AE45C7C946C9}" srcOrd="1" destOrd="0" parTransId="{E53F1FEE-9CD5-46CC-9CBF-A902AC11C6E8}" sibTransId="{5E24BCB5-EBD3-46A4-B141-509A0A9728F5}"/>
    <dgm:cxn modelId="{45B3C6BA-29A8-4E3D-B568-38B626B58F0A}" type="presOf" srcId="{EF45FD6E-3FFB-4E8D-B954-94A12BCC3239}" destId="{A4014F74-9B9C-427B-8A62-9DA14EBD18AC}" srcOrd="0" destOrd="0" presId="urn:microsoft.com/office/officeart/2005/8/layout/hList1"/>
    <dgm:cxn modelId="{B6824099-01CE-463C-82E8-6B20FE9469F0}" type="presParOf" srcId="{E52A3905-C2FD-4D9E-AF46-1BD2BD9E0A94}" destId="{055DB609-F7E3-417C-9AD2-6E2C45DEB073}" srcOrd="0" destOrd="0" presId="urn:microsoft.com/office/officeart/2005/8/layout/hList1"/>
    <dgm:cxn modelId="{008842EC-374F-4BEE-8FF0-F006A569D25D}" type="presParOf" srcId="{055DB609-F7E3-417C-9AD2-6E2C45DEB073}" destId="{7DD8BCE6-963A-494F-BFD7-9FC994E6C62C}" srcOrd="0" destOrd="0" presId="urn:microsoft.com/office/officeart/2005/8/layout/hList1"/>
    <dgm:cxn modelId="{6FB00D78-93CF-4922-A1B4-E390D45DB8A5}" type="presParOf" srcId="{055DB609-F7E3-417C-9AD2-6E2C45DEB073}" destId="{DAA4C95E-FACA-4342-891C-0FDCBAE22126}" srcOrd="1" destOrd="0" presId="urn:microsoft.com/office/officeart/2005/8/layout/hList1"/>
    <dgm:cxn modelId="{4B9B6814-CEFA-470A-A7DC-210C88171E12}" type="presParOf" srcId="{E52A3905-C2FD-4D9E-AF46-1BD2BD9E0A94}" destId="{E95600D6-74DA-4519-881F-26136768DDAC}" srcOrd="1" destOrd="0" presId="urn:microsoft.com/office/officeart/2005/8/layout/hList1"/>
    <dgm:cxn modelId="{BBE0D2D6-54D0-43D2-A96F-BE4CB1B2E745}" type="presParOf" srcId="{E52A3905-C2FD-4D9E-AF46-1BD2BD9E0A94}" destId="{BE625078-6562-4F62-871A-3D0AEA55716F}" srcOrd="2" destOrd="0" presId="urn:microsoft.com/office/officeart/2005/8/layout/hList1"/>
    <dgm:cxn modelId="{AED40ACF-B517-41A2-89DC-37C3678C5F9A}" type="presParOf" srcId="{BE625078-6562-4F62-871A-3D0AEA55716F}" destId="{69EF3DB9-4DC3-4351-AF92-09F0A8D0EF95}" srcOrd="0" destOrd="0" presId="urn:microsoft.com/office/officeart/2005/8/layout/hList1"/>
    <dgm:cxn modelId="{6BC6ED81-CD56-463A-8590-FBA7EF1EA0A1}" type="presParOf" srcId="{BE625078-6562-4F62-871A-3D0AEA55716F}" destId="{9E65A98F-D39F-43F3-9921-3C13FD828708}" srcOrd="1" destOrd="0" presId="urn:microsoft.com/office/officeart/2005/8/layout/hList1"/>
    <dgm:cxn modelId="{C99FAC75-7C2A-43C9-BBA4-18C05E162246}" type="presParOf" srcId="{E52A3905-C2FD-4D9E-AF46-1BD2BD9E0A94}" destId="{D260BACB-14A6-4BED-9081-786B00783065}" srcOrd="3" destOrd="0" presId="urn:microsoft.com/office/officeart/2005/8/layout/hList1"/>
    <dgm:cxn modelId="{385C6AED-4E79-4201-865D-8F12A17CB2BD}" type="presParOf" srcId="{E52A3905-C2FD-4D9E-AF46-1BD2BD9E0A94}" destId="{A3E6859C-95B9-4A79-8D2F-0103D61E5849}" srcOrd="4" destOrd="0" presId="urn:microsoft.com/office/officeart/2005/8/layout/hList1"/>
    <dgm:cxn modelId="{4CCFBF72-A450-4C3E-9162-76A4B3B5402E}" type="presParOf" srcId="{A3E6859C-95B9-4A79-8D2F-0103D61E5849}" destId="{A4014F74-9B9C-427B-8A62-9DA14EBD18AC}" srcOrd="0" destOrd="0" presId="urn:microsoft.com/office/officeart/2005/8/layout/hList1"/>
    <dgm:cxn modelId="{52A2BD20-A22C-49F2-978B-9FD8D7F857B1}" type="presParOf" srcId="{A3E6859C-95B9-4A79-8D2F-0103D61E5849}" destId="{F34FA34F-0BD0-4B8E-A7A2-7D0A8E84E5F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910F4-6631-4755-A918-3AFE60ECB317}">
      <dsp:nvSpPr>
        <dsp:cNvPr id="0" name=""/>
        <dsp:cNvSpPr/>
      </dsp:nvSpPr>
      <dsp:spPr>
        <a:xfrm>
          <a:off x="2287499" y="0"/>
          <a:ext cx="3637692" cy="330491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Continuous non-destructive and automatic detection of damage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Embedded fiber-optic sensors detect internal cracks and stress. An ESP32 chip sends real-time data and alerts to a dashboard.</a:t>
          </a:r>
        </a:p>
      </dsp:txBody>
      <dsp:txXfrm>
        <a:off x="2287499" y="413114"/>
        <a:ext cx="2398350" cy="2478683"/>
      </dsp:txXfrm>
    </dsp:sp>
    <dsp:sp modelId="{1C022E61-4D89-4073-98DC-343A14A40F86}">
      <dsp:nvSpPr>
        <dsp:cNvPr id="0" name=""/>
        <dsp:cNvSpPr/>
      </dsp:nvSpPr>
      <dsp:spPr>
        <a:xfrm>
          <a:off x="666568" y="189210"/>
          <a:ext cx="1261974" cy="28724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The nervous system</a:t>
          </a:r>
          <a:endParaRPr lang="en-US" sz="2300" kern="1200" dirty="0"/>
        </a:p>
      </dsp:txBody>
      <dsp:txXfrm>
        <a:off x="728172" y="250814"/>
        <a:ext cx="1138766" cy="2749202"/>
      </dsp:txXfrm>
    </dsp:sp>
    <dsp:sp modelId="{E6FE839D-53C1-4A7E-917A-D4A929B88757}">
      <dsp:nvSpPr>
        <dsp:cNvPr id="0" name=""/>
        <dsp:cNvSpPr/>
      </dsp:nvSpPr>
      <dsp:spPr>
        <a:xfrm>
          <a:off x="2287487" y="3538163"/>
          <a:ext cx="3713609" cy="359643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lumMod val="40000"/>
            <a:lumOff val="60000"/>
            <a:alpha val="90000"/>
          </a:schemeClr>
        </a:solidFill>
        <a:ln w="254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Concrete embeds healing agents like micro-encapsulated bacteria (such as bacillus subtilis) or chemical agents within vascular networks or as capsules.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Bacteria sequester CO2 minimizing the need of replacement materials. </a:t>
          </a:r>
          <a:endParaRPr lang="en-US" sz="1600" b="1" kern="1200" dirty="0"/>
        </a:p>
      </dsp:txBody>
      <dsp:txXfrm>
        <a:off x="2287487" y="3987717"/>
        <a:ext cx="2364946" cy="2697327"/>
      </dsp:txXfrm>
    </dsp:sp>
    <dsp:sp modelId="{FB7B6912-1B5A-4BD4-97CC-3274969293E2}">
      <dsp:nvSpPr>
        <dsp:cNvPr id="0" name=""/>
        <dsp:cNvSpPr/>
      </dsp:nvSpPr>
      <dsp:spPr>
        <a:xfrm flipH="1">
          <a:off x="728883" y="3857065"/>
          <a:ext cx="1296071" cy="32319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The immune system</a:t>
          </a:r>
          <a:endParaRPr lang="en-US" sz="2300" kern="1200" dirty="0"/>
        </a:p>
      </dsp:txBody>
      <dsp:txXfrm>
        <a:off x="792152" y="3920334"/>
        <a:ext cx="1169533" cy="31054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8BCE6-963A-494F-BFD7-9FC994E6C62C}">
      <dsp:nvSpPr>
        <dsp:cNvPr id="0" name=""/>
        <dsp:cNvSpPr/>
      </dsp:nvSpPr>
      <dsp:spPr>
        <a:xfrm>
          <a:off x="4119" y="276325"/>
          <a:ext cx="4016573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Bridges and piers</a:t>
          </a:r>
          <a:endParaRPr lang="en-US" sz="2900" kern="1200" dirty="0"/>
        </a:p>
      </dsp:txBody>
      <dsp:txXfrm>
        <a:off x="4119" y="276325"/>
        <a:ext cx="4016573" cy="835200"/>
      </dsp:txXfrm>
    </dsp:sp>
    <dsp:sp modelId="{DAA4C95E-FACA-4342-891C-0FDCBAE22126}">
      <dsp:nvSpPr>
        <dsp:cNvPr id="0" name=""/>
        <dsp:cNvSpPr/>
      </dsp:nvSpPr>
      <dsp:spPr>
        <a:xfrm>
          <a:off x="4119" y="1111525"/>
          <a:ext cx="4016573" cy="5413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Protects mass concrete: Custom-designed for heavy-duty marine structures and bridges.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Stops rust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Smart monitoring: Reduces the need of expensive manual inspections due to the dashboard system.</a:t>
          </a:r>
          <a:endParaRPr lang="en-US" sz="2900" kern="1200" dirty="0"/>
        </a:p>
      </dsp:txBody>
      <dsp:txXfrm>
        <a:off x="4119" y="1111525"/>
        <a:ext cx="4016573" cy="5413140"/>
      </dsp:txXfrm>
    </dsp:sp>
    <dsp:sp modelId="{69EF3DB9-4DC3-4351-AF92-09F0A8D0EF95}">
      <dsp:nvSpPr>
        <dsp:cNvPr id="0" name=""/>
        <dsp:cNvSpPr/>
      </dsp:nvSpPr>
      <dsp:spPr>
        <a:xfrm>
          <a:off x="4583013" y="276325"/>
          <a:ext cx="4016573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Economic benefits</a:t>
          </a:r>
          <a:endParaRPr lang="en-US" sz="2900" kern="1200" dirty="0"/>
        </a:p>
      </dsp:txBody>
      <dsp:txXfrm>
        <a:off x="4583013" y="276325"/>
        <a:ext cx="4016573" cy="835200"/>
      </dsp:txXfrm>
    </dsp:sp>
    <dsp:sp modelId="{9E65A98F-D39F-43F3-9921-3C13FD828708}">
      <dsp:nvSpPr>
        <dsp:cNvPr id="0" name=""/>
        <dsp:cNvSpPr/>
      </dsp:nvSpPr>
      <dsp:spPr>
        <a:xfrm>
          <a:off x="4583013" y="1111525"/>
          <a:ext cx="4016573" cy="5413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Reduces long term </a:t>
          </a:r>
          <a:r>
            <a:rPr lang="en-US" sz="2900" kern="1200" dirty="0" err="1" smtClean="0"/>
            <a:t>maintainance</a:t>
          </a:r>
          <a:r>
            <a:rPr lang="en-US" sz="2900" kern="1200" dirty="0" smtClean="0"/>
            <a:t> </a:t>
          </a:r>
          <a:r>
            <a:rPr lang="en-US" sz="2900" kern="1200" dirty="0" smtClean="0"/>
            <a:t>costs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Though the idea itself is not the cheapest option out there, but it heals the cracks in the innermost, unreachable layers of concrete increasing its lifespan.</a:t>
          </a:r>
          <a:endParaRPr lang="en-US" sz="2900" kern="1200" dirty="0"/>
        </a:p>
      </dsp:txBody>
      <dsp:txXfrm>
        <a:off x="4583013" y="1111525"/>
        <a:ext cx="4016573" cy="5413140"/>
      </dsp:txXfrm>
    </dsp:sp>
    <dsp:sp modelId="{A4014F74-9B9C-427B-8A62-9DA14EBD18AC}">
      <dsp:nvSpPr>
        <dsp:cNvPr id="0" name=""/>
        <dsp:cNvSpPr/>
      </dsp:nvSpPr>
      <dsp:spPr>
        <a:xfrm>
          <a:off x="9161907" y="276325"/>
          <a:ext cx="4016573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Sustainability</a:t>
          </a:r>
          <a:endParaRPr lang="en-US" sz="2900" kern="1200" dirty="0"/>
        </a:p>
      </dsp:txBody>
      <dsp:txXfrm>
        <a:off x="9161907" y="276325"/>
        <a:ext cx="4016573" cy="835200"/>
      </dsp:txXfrm>
    </dsp:sp>
    <dsp:sp modelId="{F34FA34F-0BD0-4B8E-A7A2-7D0A8E84E5F0}">
      <dsp:nvSpPr>
        <dsp:cNvPr id="0" name=""/>
        <dsp:cNvSpPr/>
      </dsp:nvSpPr>
      <dsp:spPr>
        <a:xfrm>
          <a:off x="9161907" y="1160952"/>
          <a:ext cx="4016573" cy="5413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CO2 sequestration by the bacteria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Lifespan of structures increases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Repairs without closing roads</a:t>
          </a:r>
          <a:endParaRPr lang="en-US" sz="2900" kern="1200" dirty="0"/>
        </a:p>
      </dsp:txBody>
      <dsp:txXfrm>
        <a:off x="9161907" y="1160952"/>
        <a:ext cx="4016573" cy="5413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2BBCA-8EB5-403B-87D0-034AF165C1A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02BA5-7CD9-455F-9667-2D8C00FC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56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902BA5-7CD9-455F-9667-2D8C00FCD27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1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kh.sanjivaniuniversity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6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5.jfif"/><Relationship Id="rId5" Type="http://schemas.openxmlformats.org/officeDocument/2006/relationships/diagramLayout" Target="../diagrams/layout1.xml"/><Relationship Id="rId10" Type="http://schemas.openxmlformats.org/officeDocument/2006/relationships/image" Target="../media/image2.png"/><Relationship Id="rId4" Type="http://schemas.openxmlformats.org/officeDocument/2006/relationships/diagramData" Target="../diagrams/data1.xml"/><Relationship Id="rId9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93759" y="-652077"/>
            <a:ext cx="12596320" cy="3070298"/>
            <a:chOff x="0" y="0"/>
            <a:chExt cx="16834532" cy="41033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34532" cy="4103344"/>
            </a:xfrm>
            <a:custGeom>
              <a:avLst/>
              <a:gdLst/>
              <a:ahLst/>
              <a:cxnLst/>
              <a:rect l="l" t="t" r="r" b="b"/>
              <a:pathLst>
                <a:path w="16834532" h="4103344">
                  <a:moveTo>
                    <a:pt x="0" y="0"/>
                  </a:moveTo>
                  <a:lnTo>
                    <a:pt x="16834532" y="0"/>
                  </a:lnTo>
                  <a:lnTo>
                    <a:pt x="16834532" y="4103344"/>
                  </a:lnTo>
                  <a:lnTo>
                    <a:pt x="0" y="4103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817" r="-23118" b="-4902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834532" cy="4103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599"/>
                </a:lnSpc>
              </a:pPr>
              <a:r>
                <a:rPr lang="en-US" sz="5499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KOPARGOAN HACKATHON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62200" y="2094416"/>
            <a:ext cx="14630400" cy="633506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285750" indent="-285750" algn="l">
              <a:lnSpc>
                <a:spcPts val="3812"/>
              </a:lnSpc>
              <a:buFont typeface="Arial" panose="020B0604020202020204" pitchFamily="34" charset="0"/>
              <a:buChar char="•"/>
            </a:pPr>
            <a:endParaRPr dirty="0"/>
          </a:p>
          <a:p>
            <a:pPr marL="457200" indent="-457200" algn="just">
              <a:lnSpc>
                <a:spcPts val="7624"/>
              </a:lnSpc>
              <a:buFont typeface="Arial" panose="020B0604020202020204" pitchFamily="34" charset="0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</a:t>
            </a: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Statement ID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–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skhoi017</a:t>
            </a:r>
            <a:endParaRPr lang="en-US" sz="3176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57200" indent="-457200" algn="just">
              <a:lnSpc>
                <a:spcPts val="7624"/>
              </a:lnSpc>
              <a:buFont typeface="Arial" panose="020B0604020202020204" pitchFamily="34" charset="0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</a:t>
            </a: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Statement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Title- Fiber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Optic Embedded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elf-Healing </a:t>
            </a: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oncrete</a:t>
            </a:r>
            <a:endParaRPr lang="en-US" sz="3176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57200" indent="-457200" algn="just">
              <a:lnSpc>
                <a:spcPts val="7624"/>
              </a:lnSpc>
              <a:buFont typeface="Arial" panose="020B0604020202020204" pitchFamily="34" charset="0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Open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Innovation</a:t>
            </a: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endParaRPr lang="en-US" sz="3176" b="1" dirty="0" smtClean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57200" indent="-457200" algn="just">
              <a:lnSpc>
                <a:spcPts val="7624"/>
              </a:lnSpc>
              <a:buFont typeface="Arial" panose="020B0604020202020204" pitchFamily="34" charset="0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</a:t>
            </a: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Category-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Hardware</a:t>
            </a:r>
            <a:endParaRPr lang="en-US" sz="3176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57200" indent="-457200" algn="just">
              <a:lnSpc>
                <a:spcPts val="7624"/>
              </a:lnSpc>
              <a:buFont typeface="Arial" panose="020B0604020202020204" pitchFamily="34" charset="0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ID-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NMWJAM</a:t>
            </a:r>
            <a:endParaRPr lang="en-US" sz="3176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57200" indent="-457200" algn="just">
              <a:lnSpc>
                <a:spcPts val="7624"/>
              </a:lnSpc>
              <a:buFont typeface="Arial" panose="020B0604020202020204" pitchFamily="34" charset="0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</a:t>
            </a:r>
            <a:r>
              <a:rPr lang="en-US" sz="317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Name (Registered on 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portal) – Team </a:t>
            </a:r>
            <a:r>
              <a:rPr lang="en-US" sz="3176" b="1" dirty="0" err="1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Panchjanya</a:t>
            </a:r>
            <a:r>
              <a:rPr lang="en-US" sz="3176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endParaRPr lang="en-US" sz="3176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7" name="Freeform 7">
              <a:hlinkClick r:id="rId3" tooltip="https://skh.sanjivaniuniversity.com"/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r="-3120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549575" y="364530"/>
            <a:ext cx="5188849" cy="19225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6480"/>
              </a:lnSpc>
            </a:pPr>
            <a:endParaRPr dirty="0"/>
          </a:p>
        </p:txBody>
      </p:sp>
      <p:sp>
        <p:nvSpPr>
          <p:cNvPr id="14" name="Freeform 14"/>
          <p:cNvSpPr/>
          <p:nvPr/>
        </p:nvSpPr>
        <p:spPr>
          <a:xfrm>
            <a:off x="588369" y="16562"/>
            <a:ext cx="2100730" cy="2100730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5060262" y="1333500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</a:t>
              </a:r>
              <a:r>
                <a:rPr lang="en-US" sz="2700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Panchjanya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r="-312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7662366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2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104900" y="1729949"/>
            <a:ext cx="16078200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Proposed</a:t>
            </a: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Solution </a:t>
            </a:r>
            <a:b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/>
            </a:r>
            <a:b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Normal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concrete always develops tiny fractures (like hairline or shrinkage cracks) that lead to building decay, safety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hazards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and massive global repair costs.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 are building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smart concrete that acts like a living body. It combines biological self-healing properties with a hidden fiber-optic nervous system.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Embedded fiber-optic sensors continuously feel stress, strain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and microscopic cracks from inside. A small computer chip (ESP32) instantly sends this data to a live dashboard.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When a crack is detected and water gets in, embedded microcapsules holding dormant bacteria (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Bacillus subtilis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break open. The bacteria seal the fracture with limestone.</a:t>
            </a:r>
          </a:p>
        </p:txBody>
      </p:sp>
      <p:sp>
        <p:nvSpPr>
          <p:cNvPr id="27" name="Rectangle 4"/>
          <p:cNvSpPr>
            <a:spLocks noGrp="1" noChangeArrowheads="1"/>
          </p:cNvSpPr>
          <p:nvPr>
            <p:ph sz="half" idx="1"/>
          </p:nvPr>
        </p:nvSpPr>
        <p:spPr bwMode="auto">
          <a:xfrm>
            <a:off x="685800" y="5363878"/>
            <a:ext cx="8039100" cy="318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How </a:t>
            </a:r>
            <a:r>
              <a:rPr lang="en-US" altLang="en-US" sz="2400" b="1" dirty="0" smtClean="0">
                <a:latin typeface="Google Sans Text"/>
              </a:rPr>
              <a:t>it addresses the problem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 smtClean="0"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Our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system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spots tiny, invisible cracks (like hairline or shrinkage cracks) before they grow into dangerous, building-threatening cracks.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 tracks high temperatures when the concrete is drying to prevent early cracks from forming.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concrete heals its own damage automatically without any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external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help. This saves massive amounts of money and time on repairs.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5"/>
          <p:cNvSpPr>
            <a:spLocks noGrp="1" noChangeArrowheads="1"/>
          </p:cNvSpPr>
          <p:nvPr>
            <p:ph sz="half" idx="2"/>
          </p:nvPr>
        </p:nvSpPr>
        <p:spPr bwMode="auto">
          <a:xfrm>
            <a:off x="8763000" y="5484952"/>
            <a:ext cx="8686800" cy="287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Uniqueness of</a:t>
            </a: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proposed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Unlike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other self-healing concrete, our sensors actually prove that the healing worked and show the results on a live dashboard.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the bacteria heal the concrete, they trap harmful carbon dioxide CO2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from the air, making the process highly eco-friendly.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 are going to prove this works by building a physical 1x1x1inch concrete block that brings biology, sensors, and construction together in real life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4"/>
          <p:cNvSpPr/>
          <p:nvPr/>
        </p:nvSpPr>
        <p:spPr>
          <a:xfrm>
            <a:off x="6083990" y="1485900"/>
            <a:ext cx="6400799" cy="7017439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96000" y="1478861"/>
            <a:ext cx="6400799" cy="7017439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/>
            </a:stretch>
          </a:blipFill>
        </p:spPr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2172870802"/>
              </p:ext>
            </p:extLst>
          </p:nvPr>
        </p:nvGraphicFramePr>
        <p:xfrm>
          <a:off x="827904" y="1790700"/>
          <a:ext cx="6805888" cy="723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120" r="-3120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028700" y="333293"/>
            <a:ext cx="16459200" cy="17359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788" y="4757526"/>
            <a:ext cx="4820749" cy="2788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0455" y="1622230"/>
            <a:ext cx="4801444" cy="312338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39200" y="3771900"/>
            <a:ext cx="68826" cy="283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7010400" y="5703044"/>
            <a:ext cx="54240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750739" y="2280223"/>
            <a:ext cx="551746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Fiber Optic Sensors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Optical Interrogator Module (to read the fiber optic light signals)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</a:t>
            </a:r>
            <a:r>
              <a:rPr lang="en-US" altLang="en-US" sz="2000" b="1" dirty="0" smtClean="0">
                <a:latin typeface="Arial" panose="020B0604020202020204" pitchFamily="34" charset="0"/>
              </a:rPr>
              <a:t>32 microcontroller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Breadboard &amp; Jumper Wires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Thonny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MicroPython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Protocol (for sending data to the cloud)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Dashboard Platform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Neural Network Framework (like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Lite)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Bacillus subtilis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Bacteria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Micro-encapsulation Materials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Calcium Nutrient (as bacteria food)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Cement &amp; Aggregates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1x1x1 Concrete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475612" y="316458"/>
            <a:ext cx="1915887" cy="129196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40"/>
              </a:lnSpc>
            </a:pPr>
            <a:r>
              <a:rPr lang="en-US" sz="2700" dirty="0" smtClean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</a:t>
            </a:r>
            <a:r>
              <a:rPr lang="en-US" sz="2700" dirty="0" err="1" smtClean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Panchjanya</a:t>
            </a:r>
            <a:endParaRPr lang="en-US" sz="27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2" name="TextBox 31"/>
          <p:cNvSpPr txBox="1"/>
          <p:nvPr/>
        </p:nvSpPr>
        <p:spPr>
          <a:xfrm flipV="1">
            <a:off x="6553200" y="800263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11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6858000" y="7774649"/>
            <a:ext cx="670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Network of </a:t>
            </a:r>
            <a:r>
              <a:rPr lang="en-US" b="1" dirty="0" err="1" smtClean="0"/>
              <a:t>fibre</a:t>
            </a:r>
            <a:r>
              <a:rPr lang="en-US" b="1" dirty="0" smtClean="0"/>
              <a:t> optic cables is embedded aligned with </a:t>
            </a:r>
            <a:r>
              <a:rPr lang="en-US" b="1" dirty="0" err="1" smtClean="0"/>
              <a:t>rebars</a:t>
            </a:r>
            <a:r>
              <a:rPr lang="en-US" b="1" dirty="0" smtClean="0"/>
              <a:t> as shown in above image. Data received by receiver is sent to esp32 via fiber optic amplifier.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Microcapsules filled with Calcium Lactate &amp; Bacillus Subtilis(sealed with wax and varnish) are stacked up in centermost layer.</a:t>
            </a:r>
            <a:endParaRPr lang="en-IN" b="1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6629400" y="7658100"/>
            <a:ext cx="70104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5479362" y="1478862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404151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</a:t>
              </a:r>
              <a:r>
                <a:rPr lang="en-US" sz="2700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Panchjanya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r="-312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42975" y="404151"/>
            <a:ext cx="16459200" cy="1714500"/>
            <a:chOff x="0" y="0"/>
            <a:chExt cx="21945600" cy="228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600200" y="1703154"/>
            <a:ext cx="14630400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28566" tIns="0" rIns="-2856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</a:b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Analysis of the Feasibility of the Idea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Fusing sensors and ESP32 chips is easily testable right now using our 1x1x1 concrete replica.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Using micro-encapsulated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Bacillus subtilis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bacteria to seal cracks is already a proven concept in lab research.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Potential Challenges and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If capsules aren't mixed perfectly, the healing agent won't reach the cracks, causing unsatisfactory repair.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Adding too many microcapsules could lower the concrete's natural mechanical strength.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High temperatures during the initial pour can cause early-age cracking or destroy the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Strategies for Overcoming These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We will use the 1x1x1 replica to find the perfect ratio of cement to microcapsules(80/20), ensuring maximum healing without losing strength.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</a:b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Embedded AI will filter the raw data, ensuring the ESP32 only triggers dashboard alerts for actual structural strain.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Using tough microcapsule materials to protect the bacteria from the harsh wet cement until a crack physically breaks them open.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5479362" y="1478862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</a:t>
              </a:r>
              <a:r>
                <a:rPr lang="en-US" sz="2700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Panchjanya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4875" y="514209"/>
            <a:ext cx="16459200" cy="1714500"/>
            <a:chOff x="0" y="0"/>
            <a:chExt cx="21945600" cy="228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r="-312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3338174793"/>
              </p:ext>
            </p:extLst>
          </p:nvPr>
        </p:nvGraphicFramePr>
        <p:xfrm>
          <a:off x="2514600" y="2228709"/>
          <a:ext cx="13182600" cy="6800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5479362" y="1478862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</a:t>
              </a:r>
              <a:r>
                <a:rPr lang="en-US" sz="2700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Panchjanya</a:t>
              </a: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14209"/>
            <a:ext cx="16459200" cy="1714500"/>
            <a:chOff x="0" y="0"/>
            <a:chExt cx="21945600" cy="228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r="-312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1028700" y="3297963"/>
            <a:ext cx="163449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"New-generation pavement empowered by smart and multifunctional concretes: A review"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Construction and Building Materials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"Sustainability of nanomaterials based self-healing concrete: An all-inclusive insight"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Building Engineering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2019.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"Self-healing cement concrete composites for resilient infrastructures: A review"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Composites Part B: Engineering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"Diverse perspectives on self healing ability of Engineered Cement Composite – All-inclusive insight"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Construction and Building Materials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"Challenges of Self-Sensing Concrete"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Self-Sensing Concrete in Smart Structures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2014.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"Self-healing concrete: Fabrication, advancement, and effectiveness for long-term integrity of concrete infrastructures"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Alexandria Engineering Journal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621</Words>
  <Application>Microsoft Office PowerPoint</Application>
  <PresentationFormat>Custom</PresentationFormat>
  <Paragraphs>115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Garamond Bold</vt:lpstr>
      <vt:lpstr>Arial</vt:lpstr>
      <vt:lpstr>Arial Bold</vt:lpstr>
      <vt:lpstr>Times New Roman Bold</vt:lpstr>
      <vt:lpstr>Google Sans</vt:lpstr>
      <vt:lpstr>Calibri</vt:lpstr>
      <vt:lpstr>Arimo Bold</vt:lpstr>
      <vt:lpstr>Calibri (MS)</vt:lpstr>
      <vt:lpstr>Google Sans Text</vt:lpstr>
      <vt:lpstr>Office Theme</vt:lpstr>
      <vt:lpstr>PowerPoint Presentation</vt:lpstr>
      <vt:lpstr>Proposed Solution   Normal concrete always develops tiny fractures (like hairline or shrinkage cracks) that lead to building decay, safety hazards, and massive global repair costs.   We are building a smart concrete that acts like a living body. It combines biological self-healing properties with a hidden fiber-optic nervous system.   Embedded fiber-optic sensors continuously feel stress, strain and microscopic cracks from inside. A small computer chip (ESP32) instantly sends this data to a live dashboard.   When a crack is detected and water gets in, embedded microcapsules holding dormant bacteria (Bacillus subtilis) break open. The bacteria seal the fracture with limestone.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Minimalist Project Presentation</dc:title>
  <dc:creator>Admin</dc:creator>
  <cp:lastModifiedBy>Admin</cp:lastModifiedBy>
  <cp:revision>25</cp:revision>
  <dcterms:created xsi:type="dcterms:W3CDTF">2006-08-16T00:00:00Z</dcterms:created>
  <dcterms:modified xsi:type="dcterms:W3CDTF">2026-08-14T19:46:53Z</dcterms:modified>
  <dc:identifier>DAHOT8uMH7M</dc:identifier>
</cp:coreProperties>
</file>